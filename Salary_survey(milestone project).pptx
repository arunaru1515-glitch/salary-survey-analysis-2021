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6858000" cy="9144000"/>
  <p:embeddedFontLst>
    <p:embeddedFont>
      <p:font typeface="Blinker" panose="020B0604020202020204" charset="0"/>
      <p:regular r:id="rId14"/>
      <p:bold r:id="rId15"/>
    </p:embeddedFont>
    <p:embeddedFont>
      <p:font typeface="Nunito Light" pitchFamily="2" charset="0"/>
      <p:regular r:id="rId16"/>
      <p:italic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ighteous" panose="020B060402020202020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E2C8CF-C7C4-421B-8E4B-08368D5778CC}">
  <a:tblStyle styleId="{65E2C8CF-C7C4-421B-8E4B-08368D577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E243FB-B2DC-4227-A3A9-ECA300C89D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39" autoAdjust="0"/>
  </p:normalViewPr>
  <p:slideViewPr>
    <p:cSldViewPr snapToGrid="0">
      <p:cViewPr varScale="1">
        <p:scale>
          <a:sx n="102" d="100"/>
          <a:sy n="102" d="100"/>
        </p:scale>
        <p:origin x="1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9d36665f9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9d36665f9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593475" y="1550900"/>
            <a:ext cx="14250950" cy="4166950"/>
            <a:chOff x="-2593475" y="1550900"/>
            <a:chExt cx="14250950" cy="416695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-2593475" y="155090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8350775" y="24111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12;p2"/>
          <p:cNvGrpSpPr/>
          <p:nvPr/>
        </p:nvGrpSpPr>
        <p:grpSpPr>
          <a:xfrm>
            <a:off x="499875" y="-1978375"/>
            <a:ext cx="5286725" cy="9011575"/>
            <a:chOff x="499875" y="-1978375"/>
            <a:chExt cx="5286725" cy="9011575"/>
          </a:xfrm>
        </p:grpSpPr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57400" y="46040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9875" y="-1978375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15;p2"/>
          <p:cNvGrpSpPr/>
          <p:nvPr/>
        </p:nvGrpSpPr>
        <p:grpSpPr>
          <a:xfrm>
            <a:off x="-753450" y="1615925"/>
            <a:ext cx="12008875" cy="5832425"/>
            <a:chOff x="-753450" y="1615925"/>
            <a:chExt cx="12008875" cy="5832425"/>
          </a:xfrm>
        </p:grpSpPr>
        <p:pic>
          <p:nvPicPr>
            <p:cNvPr id="16" name="Google Shape;1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568725" y="16159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753450" y="476165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oogle Shape;18;p2"/>
          <p:cNvGrpSpPr/>
          <p:nvPr/>
        </p:nvGrpSpPr>
        <p:grpSpPr>
          <a:xfrm>
            <a:off x="-1867575" y="-2270900"/>
            <a:ext cx="8704050" cy="5163225"/>
            <a:chOff x="-1867575" y="-2270900"/>
            <a:chExt cx="8704050" cy="5163225"/>
          </a:xfrm>
        </p:grpSpPr>
        <p:pic>
          <p:nvPicPr>
            <p:cNvPr id="19" name="Google Shape;19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4150" y="-227090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867575" y="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396950" y="1264750"/>
            <a:ext cx="63501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2307675" y="30423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57350" y="2403800"/>
            <a:ext cx="4629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3905700" y="1530875"/>
            <a:ext cx="1332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2423925" y="-1027950"/>
            <a:ext cx="14213750" cy="8093263"/>
            <a:chOff x="-2423925" y="-1027950"/>
            <a:chExt cx="14213750" cy="8093263"/>
          </a:xfrm>
        </p:grpSpPr>
        <p:pic>
          <p:nvPicPr>
            <p:cNvPr id="28" name="Google Shape;2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8424000" y="-10279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423925" y="3699488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" name="Google Shape;30;p4"/>
          <p:cNvGrpSpPr/>
          <p:nvPr/>
        </p:nvGrpSpPr>
        <p:grpSpPr>
          <a:xfrm>
            <a:off x="-2384500" y="539500"/>
            <a:ext cx="13876400" cy="4392500"/>
            <a:chOff x="-2384500" y="539500"/>
            <a:chExt cx="13876400" cy="4392500"/>
          </a:xfrm>
        </p:grpSpPr>
        <p:pic>
          <p:nvPicPr>
            <p:cNvPr id="31" name="Google Shape;31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2384500" y="20396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05200" y="53950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4"/>
          <p:cNvGrpSpPr/>
          <p:nvPr/>
        </p:nvGrpSpPr>
        <p:grpSpPr>
          <a:xfrm>
            <a:off x="-2090400" y="-675100"/>
            <a:ext cx="10941400" cy="7836400"/>
            <a:chOff x="-2090400" y="-675100"/>
            <a:chExt cx="10941400" cy="7836400"/>
          </a:xfrm>
        </p:grpSpPr>
        <p:pic>
          <p:nvPicPr>
            <p:cNvPr id="34" name="Google Shape;34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421800" y="4732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-2090400" y="-675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-3317650" y="-649650"/>
            <a:ext cx="15118238" cy="8185875"/>
            <a:chOff x="-3317650" y="-649650"/>
            <a:chExt cx="15118238" cy="8185875"/>
          </a:xfrm>
        </p:grpSpPr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493888" y="255510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317650" y="-64965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337337" y="42295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" name="Google Shape;43;p5"/>
          <p:cNvGrpSpPr/>
          <p:nvPr/>
        </p:nvGrpSpPr>
        <p:grpSpPr>
          <a:xfrm>
            <a:off x="-2874025" y="928863"/>
            <a:ext cx="13737688" cy="5604113"/>
            <a:chOff x="-2874025" y="928863"/>
            <a:chExt cx="13737688" cy="5604113"/>
          </a:xfrm>
        </p:grpSpPr>
        <p:pic>
          <p:nvPicPr>
            <p:cNvPr id="44" name="Google Shape;44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971338" y="364065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2874025" y="92886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" name="Google Shape;46;p5"/>
          <p:cNvGrpSpPr/>
          <p:nvPr/>
        </p:nvGrpSpPr>
        <p:grpSpPr>
          <a:xfrm>
            <a:off x="3151788" y="-402500"/>
            <a:ext cx="8317125" cy="7846925"/>
            <a:chOff x="3151788" y="-402500"/>
            <a:chExt cx="8317125" cy="7846925"/>
          </a:xfrm>
        </p:grpSpPr>
        <p:pic>
          <p:nvPicPr>
            <p:cNvPr id="47" name="Google Shape;47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151788" y="46040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8628488" y="-4025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"/>
          </p:nvPr>
        </p:nvSpPr>
        <p:spPr>
          <a:xfrm>
            <a:off x="4923249" y="2801425"/>
            <a:ext cx="2505600" cy="16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2"/>
          </p:nvPr>
        </p:nvSpPr>
        <p:spPr>
          <a:xfrm>
            <a:off x="1715375" y="2801425"/>
            <a:ext cx="2505600" cy="16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3"/>
          </p:nvPr>
        </p:nvSpPr>
        <p:spPr>
          <a:xfrm>
            <a:off x="1715375" y="2384524"/>
            <a:ext cx="2505600" cy="4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4923250" y="2384524"/>
            <a:ext cx="2505600" cy="4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6"/>
          <p:cNvGrpSpPr/>
          <p:nvPr/>
        </p:nvGrpSpPr>
        <p:grpSpPr>
          <a:xfrm>
            <a:off x="-2798075" y="45288"/>
            <a:ext cx="12966850" cy="7763075"/>
            <a:chOff x="-2798075" y="45288"/>
            <a:chExt cx="12966850" cy="7763075"/>
          </a:xfrm>
        </p:grpSpPr>
        <p:pic>
          <p:nvPicPr>
            <p:cNvPr id="56" name="Google Shape;56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862075" y="4501663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798075" y="45288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525050" y="3680450"/>
            <a:ext cx="3549850" cy="35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635363" y="-216125"/>
            <a:ext cx="2894475" cy="28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194100" y="4811675"/>
            <a:ext cx="2686700" cy="26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84550" y="4732100"/>
            <a:ext cx="2429200" cy="24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355163" y="-2474275"/>
            <a:ext cx="2892325" cy="28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>
            <a:spLocks noGrp="1"/>
          </p:cNvSpPr>
          <p:nvPr>
            <p:ph type="subTitle" idx="1"/>
          </p:nvPr>
        </p:nvSpPr>
        <p:spPr>
          <a:xfrm>
            <a:off x="811975" y="1878225"/>
            <a:ext cx="34107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811975" y="7997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4976000" y="1310550"/>
            <a:ext cx="2873100" cy="2837700"/>
          </a:xfrm>
          <a:prstGeom prst="octagon">
            <a:avLst>
              <a:gd name="adj" fmla="val 29289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536700" y="3162300"/>
            <a:ext cx="3549850" cy="35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948388" y="-2006350"/>
            <a:ext cx="2840425" cy="28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319312" y="-880712"/>
            <a:ext cx="2840425" cy="28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69050" y="-222500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87600" y="4082800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300288" y="2898700"/>
            <a:ext cx="2892325" cy="28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821675" y="-2850037"/>
            <a:ext cx="3389525" cy="33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423888" y="4604000"/>
            <a:ext cx="2840425" cy="28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358575" y="-1827750"/>
            <a:ext cx="3549850" cy="3549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9"/>
          <p:cNvGrpSpPr/>
          <p:nvPr/>
        </p:nvGrpSpPr>
        <p:grpSpPr>
          <a:xfrm>
            <a:off x="-3317650" y="-3219375"/>
            <a:ext cx="12693438" cy="10449700"/>
            <a:chOff x="-3317650" y="-3219375"/>
            <a:chExt cx="12693438" cy="10449700"/>
          </a:xfrm>
        </p:grpSpPr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6069088" y="39236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3317650" y="-64965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750" y="-3219375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9"/>
          <p:cNvGrpSpPr/>
          <p:nvPr/>
        </p:nvGrpSpPr>
        <p:grpSpPr>
          <a:xfrm>
            <a:off x="-2874025" y="928863"/>
            <a:ext cx="13857088" cy="5319363"/>
            <a:chOff x="-2874025" y="928863"/>
            <a:chExt cx="13857088" cy="5319363"/>
          </a:xfrm>
        </p:grpSpPr>
        <p:pic>
          <p:nvPicPr>
            <p:cNvPr id="85" name="Google Shape;85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090738" y="335590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-2874025" y="92886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3"/>
          <p:cNvGrpSpPr/>
          <p:nvPr/>
        </p:nvGrpSpPr>
        <p:grpSpPr>
          <a:xfrm>
            <a:off x="0" y="-748875"/>
            <a:ext cx="12048600" cy="8609525"/>
            <a:chOff x="0" y="-748875"/>
            <a:chExt cx="12048600" cy="8609525"/>
          </a:xfrm>
        </p:grpSpPr>
        <p:pic>
          <p:nvPicPr>
            <p:cNvPr id="98" name="Google Shape;98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41900" y="-74887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0" y="45539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" name="Google Shape;1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280525" y="290050"/>
            <a:ext cx="2894475" cy="28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85550" y="3887050"/>
            <a:ext cx="3549850" cy="3549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3"/>
          <p:cNvGrpSpPr/>
          <p:nvPr/>
        </p:nvGrpSpPr>
        <p:grpSpPr>
          <a:xfrm>
            <a:off x="-1703800" y="490575"/>
            <a:ext cx="13126175" cy="6241050"/>
            <a:chOff x="-1703800" y="490575"/>
            <a:chExt cx="13126175" cy="6241050"/>
          </a:xfrm>
        </p:grpSpPr>
        <p:pic>
          <p:nvPicPr>
            <p:cNvPr id="103" name="Google Shape;103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30050" y="4905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703800" y="40449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1543325" y="1579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1467400" y="315576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579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25" y="315576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6865975" y="1579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6865950" y="315576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757925" y="1890163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3419250" y="1890163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6080575" y="1890163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757925" y="3466491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3419250" y="3466491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6080575" y="3466491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8"/>
          <p:cNvGrpSpPr/>
          <p:nvPr/>
        </p:nvGrpSpPr>
        <p:grpSpPr>
          <a:xfrm>
            <a:off x="-2423925" y="-1027950"/>
            <a:ext cx="14213750" cy="8093263"/>
            <a:chOff x="-2423925" y="-1027950"/>
            <a:chExt cx="14213750" cy="8093263"/>
          </a:xfrm>
        </p:grpSpPr>
        <p:pic>
          <p:nvPicPr>
            <p:cNvPr id="167" name="Google Shape;16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423925" y="3699488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8424000" y="-10279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18"/>
          <p:cNvGrpSpPr/>
          <p:nvPr/>
        </p:nvGrpSpPr>
        <p:grpSpPr>
          <a:xfrm>
            <a:off x="-2384500" y="539500"/>
            <a:ext cx="13876400" cy="4392500"/>
            <a:chOff x="-2384500" y="539500"/>
            <a:chExt cx="13876400" cy="4392500"/>
          </a:xfrm>
        </p:grpSpPr>
        <p:pic>
          <p:nvPicPr>
            <p:cNvPr id="170" name="Google Shape;170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2384500" y="20396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05200" y="53950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8"/>
          <p:cNvGrpSpPr/>
          <p:nvPr/>
        </p:nvGrpSpPr>
        <p:grpSpPr>
          <a:xfrm>
            <a:off x="-1955612" y="-621175"/>
            <a:ext cx="10806613" cy="7782475"/>
            <a:chOff x="-1955612" y="-621175"/>
            <a:chExt cx="10806613" cy="7782475"/>
          </a:xfrm>
        </p:grpSpPr>
        <p:pic>
          <p:nvPicPr>
            <p:cNvPr id="173" name="Google Shape;173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421800" y="4732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-1955612" y="-621175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1"/>
          </p:nvPr>
        </p:nvSpPr>
        <p:spPr>
          <a:xfrm>
            <a:off x="828699" y="2939825"/>
            <a:ext cx="23430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2"/>
          </p:nvPr>
        </p:nvSpPr>
        <p:spPr>
          <a:xfrm>
            <a:off x="3400488" y="2939825"/>
            <a:ext cx="23430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3"/>
          </p:nvPr>
        </p:nvSpPr>
        <p:spPr>
          <a:xfrm>
            <a:off x="5972300" y="2939825"/>
            <a:ext cx="23430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4"/>
          </p:nvPr>
        </p:nvSpPr>
        <p:spPr>
          <a:xfrm>
            <a:off x="828699" y="2197825"/>
            <a:ext cx="23430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5"/>
          </p:nvPr>
        </p:nvSpPr>
        <p:spPr>
          <a:xfrm>
            <a:off x="3400491" y="2197825"/>
            <a:ext cx="23430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6"/>
          </p:nvPr>
        </p:nvSpPr>
        <p:spPr>
          <a:xfrm>
            <a:off x="5972300" y="2197825"/>
            <a:ext cx="23430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600550" y="4130225"/>
            <a:ext cx="3549850" cy="3549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9"/>
          <p:cNvGrpSpPr/>
          <p:nvPr/>
        </p:nvGrpSpPr>
        <p:grpSpPr>
          <a:xfrm>
            <a:off x="-2132175" y="-2089562"/>
            <a:ext cx="5438875" cy="9950213"/>
            <a:chOff x="-2132175" y="-2089562"/>
            <a:chExt cx="5438875" cy="9950213"/>
          </a:xfrm>
        </p:grpSpPr>
        <p:pic>
          <p:nvPicPr>
            <p:cNvPr id="185" name="Google Shape;18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0" y="45539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2132175" y="-2089562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9"/>
          <p:cNvGrpSpPr/>
          <p:nvPr/>
        </p:nvGrpSpPr>
        <p:grpSpPr>
          <a:xfrm>
            <a:off x="-2605137" y="290050"/>
            <a:ext cx="14262738" cy="3994988"/>
            <a:chOff x="-2605137" y="290050"/>
            <a:chExt cx="14262738" cy="3994988"/>
          </a:xfrm>
        </p:grpSpPr>
        <p:pic>
          <p:nvPicPr>
            <p:cNvPr id="188" name="Google Shape;18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763125" y="2900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2605137" y="1390563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28250" y="4090850"/>
            <a:ext cx="2686700" cy="26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453626" y="1748900"/>
            <a:ext cx="30516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5302979" y="1748900"/>
            <a:ext cx="30516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453625" y="3409475"/>
            <a:ext cx="30516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5302979" y="3409475"/>
            <a:ext cx="30516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453625" y="1455550"/>
            <a:ext cx="305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453625" y="3116200"/>
            <a:ext cx="305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7"/>
          </p:nvPr>
        </p:nvSpPr>
        <p:spPr>
          <a:xfrm>
            <a:off x="5302950" y="1455550"/>
            <a:ext cx="305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8"/>
          </p:nvPr>
        </p:nvSpPr>
        <p:spPr>
          <a:xfrm>
            <a:off x="5302950" y="3116200"/>
            <a:ext cx="3051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0"/>
          <p:cNvGrpSpPr/>
          <p:nvPr/>
        </p:nvGrpSpPr>
        <p:grpSpPr>
          <a:xfrm>
            <a:off x="-2570212" y="-800050"/>
            <a:ext cx="4568000" cy="8422213"/>
            <a:chOff x="-2570212" y="-800050"/>
            <a:chExt cx="4568000" cy="8422213"/>
          </a:xfrm>
        </p:grpSpPr>
        <p:pic>
          <p:nvPicPr>
            <p:cNvPr id="202" name="Google Shape;202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896687" y="4727688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2570212" y="-8000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20"/>
          <p:cNvGrpSpPr/>
          <p:nvPr/>
        </p:nvGrpSpPr>
        <p:grpSpPr>
          <a:xfrm>
            <a:off x="-2715450" y="1398725"/>
            <a:ext cx="14633375" cy="4827450"/>
            <a:chOff x="-2715450" y="1398725"/>
            <a:chExt cx="14633375" cy="4827450"/>
          </a:xfrm>
        </p:grpSpPr>
        <p:pic>
          <p:nvPicPr>
            <p:cNvPr id="205" name="Google Shape;20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-2715450" y="1398725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8552100" y="28603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498275" y="-1089250"/>
            <a:ext cx="2892325" cy="2892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0"/>
          <p:cNvGrpSpPr/>
          <p:nvPr/>
        </p:nvGrpSpPr>
        <p:grpSpPr>
          <a:xfrm>
            <a:off x="6775425" y="1972025"/>
            <a:ext cx="4726350" cy="5479225"/>
            <a:chOff x="6775425" y="1972025"/>
            <a:chExt cx="4726350" cy="5479225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8815075" y="19720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6775425" y="476455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1"/>
          </p:nvPr>
        </p:nvSpPr>
        <p:spPr>
          <a:xfrm>
            <a:off x="720000" y="1938767"/>
            <a:ext cx="24462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2"/>
          </p:nvPr>
        </p:nvSpPr>
        <p:spPr>
          <a:xfrm>
            <a:off x="3341925" y="1938750"/>
            <a:ext cx="24555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3"/>
          </p:nvPr>
        </p:nvSpPr>
        <p:spPr>
          <a:xfrm>
            <a:off x="720000" y="3651201"/>
            <a:ext cx="24462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4"/>
          </p:nvPr>
        </p:nvSpPr>
        <p:spPr>
          <a:xfrm>
            <a:off x="3341925" y="3651200"/>
            <a:ext cx="24555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subTitle" idx="5"/>
          </p:nvPr>
        </p:nvSpPr>
        <p:spPr>
          <a:xfrm>
            <a:off x="5975300" y="1938750"/>
            <a:ext cx="24510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6"/>
          </p:nvPr>
        </p:nvSpPr>
        <p:spPr>
          <a:xfrm>
            <a:off x="5975300" y="3651200"/>
            <a:ext cx="24510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ubTitle" idx="7"/>
          </p:nvPr>
        </p:nvSpPr>
        <p:spPr>
          <a:xfrm>
            <a:off x="724820" y="1398725"/>
            <a:ext cx="24462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8"/>
          </p:nvPr>
        </p:nvSpPr>
        <p:spPr>
          <a:xfrm>
            <a:off x="3346577" y="1398725"/>
            <a:ext cx="24555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subTitle" idx="9"/>
          </p:nvPr>
        </p:nvSpPr>
        <p:spPr>
          <a:xfrm>
            <a:off x="5979757" y="1398725"/>
            <a:ext cx="24510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13"/>
          </p:nvPr>
        </p:nvSpPr>
        <p:spPr>
          <a:xfrm>
            <a:off x="724820" y="3107898"/>
            <a:ext cx="24462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ubTitle" idx="14"/>
          </p:nvPr>
        </p:nvSpPr>
        <p:spPr>
          <a:xfrm>
            <a:off x="3346577" y="3107900"/>
            <a:ext cx="24555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ubTitle" idx="15"/>
          </p:nvPr>
        </p:nvSpPr>
        <p:spPr>
          <a:xfrm>
            <a:off x="5979757" y="3107900"/>
            <a:ext cx="24510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3578594" y="-152256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7610169" y="3996006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5152919" y="-3516906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920138" y="4475450"/>
            <a:ext cx="2892325" cy="28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220656" y="-3048831"/>
            <a:ext cx="3389525" cy="3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356812" y="4604000"/>
            <a:ext cx="2840425" cy="28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123987" y="-358225"/>
            <a:ext cx="2892325" cy="28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8430763" y="743063"/>
            <a:ext cx="2840425" cy="28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457850" y="3562950"/>
            <a:ext cx="3549850" cy="35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283825" y="1634175"/>
            <a:ext cx="3549850" cy="35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193787" y="-520112"/>
            <a:ext cx="2840425" cy="28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5465194" y="4466944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064506" y="4778869"/>
            <a:ext cx="3389525" cy="3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934506" y="-2229181"/>
            <a:ext cx="3389525" cy="3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6" y="-3608756"/>
            <a:ext cx="4148250" cy="4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063" y="-2347888"/>
            <a:ext cx="2840425" cy="28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4" r:id="rId12"/>
    <p:sldLayoutId id="2147483665" r:id="rId13"/>
    <p:sldLayoutId id="2147483666" r:id="rId14"/>
    <p:sldLayoutId id="2147483668" r:id="rId15"/>
    <p:sldLayoutId id="214748366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>
            <a:spLocks noGrp="1"/>
          </p:cNvSpPr>
          <p:nvPr>
            <p:ph type="ctrTitle"/>
          </p:nvPr>
        </p:nvSpPr>
        <p:spPr>
          <a:xfrm>
            <a:off x="1396950" y="1264750"/>
            <a:ext cx="63501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Salary Survey</a:t>
            </a:r>
            <a:br>
              <a:rPr lang="en-US" dirty="0"/>
            </a:br>
            <a:r>
              <a:rPr lang="en-US" dirty="0"/>
              <a:t>Analysis-2021</a:t>
            </a:r>
          </a:p>
        </p:txBody>
      </p:sp>
      <p:sp>
        <p:nvSpPr>
          <p:cNvPr id="265" name="Google Shape;265;p27"/>
          <p:cNvSpPr txBox="1">
            <a:spLocks noGrp="1"/>
          </p:cNvSpPr>
          <p:nvPr>
            <p:ph type="subTitle" idx="1"/>
          </p:nvPr>
        </p:nvSpPr>
        <p:spPr>
          <a:xfrm>
            <a:off x="2307675" y="30423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Analysis – Milestone 1</a:t>
            </a:r>
            <a:endParaRPr dirty="0"/>
          </a:p>
        </p:txBody>
      </p:sp>
      <p:cxnSp>
        <p:nvCxnSpPr>
          <p:cNvPr id="266" name="Google Shape;266;p27"/>
          <p:cNvCxnSpPr/>
          <p:nvPr/>
        </p:nvCxnSpPr>
        <p:spPr>
          <a:xfrm>
            <a:off x="1980600" y="3015150"/>
            <a:ext cx="518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7"/>
          <p:cNvCxnSpPr/>
          <p:nvPr/>
        </p:nvCxnSpPr>
        <p:spPr>
          <a:xfrm>
            <a:off x="1980600" y="3518175"/>
            <a:ext cx="518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7950" y="-2160550"/>
            <a:ext cx="3549850" cy="35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0EEBA-3FCF-9EF9-9D91-529A5702A058}"/>
              </a:ext>
            </a:extLst>
          </p:cNvPr>
          <p:cNvSpPr txBox="1"/>
          <p:nvPr/>
        </p:nvSpPr>
        <p:spPr>
          <a:xfrm>
            <a:off x="6172200" y="4159386"/>
            <a:ext cx="2262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By : Arun </a:t>
            </a:r>
          </a:p>
          <a:p>
            <a:r>
              <a:rPr lang="en-US" sz="1800" dirty="0"/>
              <a:t>           DADS - July</a:t>
            </a:r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Objective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A56C3-230D-725D-2118-55B9FB79456D}"/>
              </a:ext>
            </a:extLst>
          </p:cNvPr>
          <p:cNvSpPr txBox="1"/>
          <p:nvPr/>
        </p:nvSpPr>
        <p:spPr>
          <a:xfrm>
            <a:off x="1019332" y="1663809"/>
            <a:ext cx="71053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project evaluates a worldwide salary dataset encompassing various sectors, job categories, age brackets, and countries.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To identify the highest-paid jobs and top-earning industries</a:t>
            </a:r>
            <a:r>
              <a:rPr lang="en-US" dirty="0"/>
              <a:t> based on the survey data.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Advanced analysis techniques in Excel, including Pivot Tables and dashboards, were applied to uncover trends and generate actionable insights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>
            <a:spLocks noGrp="1"/>
          </p:cNvSpPr>
          <p:nvPr>
            <p:ph type="title"/>
          </p:nvPr>
        </p:nvSpPr>
        <p:spPr>
          <a:xfrm>
            <a:off x="720000" y="233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Overview </a:t>
            </a:r>
            <a:endParaRPr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C4E260-0780-1230-2AD5-5E1A70246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74" y="2438171"/>
            <a:ext cx="4607719" cy="1759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C64D802-518A-F752-787B-6924850F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90" y="642937"/>
            <a:ext cx="7877204" cy="16480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8DF1F8-25FA-C8A9-A0D9-BEB918CCF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7" y="2376313"/>
            <a:ext cx="31854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28,000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Fields: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Attributes: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Industry, Job Title, Gender, Country, Salary (USD), Experience, and Education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Salary Survey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Purpose: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global workforce compensation and assess the influence of experience, education, and gender on pay equity.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2640775" y="250384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 Cleaning </a:t>
            </a:r>
            <a:endParaRPr dirty="0"/>
          </a:p>
        </p:txBody>
      </p:sp>
      <p:grpSp>
        <p:nvGrpSpPr>
          <p:cNvPr id="309" name="Google Shape;309;p30"/>
          <p:cNvGrpSpPr/>
          <p:nvPr/>
        </p:nvGrpSpPr>
        <p:grpSpPr>
          <a:xfrm>
            <a:off x="7989125" y="-1771625"/>
            <a:ext cx="4148250" cy="9163675"/>
            <a:chOff x="7989125" y="-1771625"/>
            <a:chExt cx="4148250" cy="9163675"/>
          </a:xfrm>
        </p:grpSpPr>
        <p:pic>
          <p:nvPicPr>
            <p:cNvPr id="310" name="Google Shape;310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989125" y="-1771625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7989125" y="324380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8726025" y="146155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830EE70-C53A-5CB0-BCFE-B0A23D7AA115}"/>
              </a:ext>
            </a:extLst>
          </p:cNvPr>
          <p:cNvSpPr txBox="1"/>
          <p:nvPr/>
        </p:nvSpPr>
        <p:spPr>
          <a:xfrm>
            <a:off x="5875668" y="1151049"/>
            <a:ext cx="301816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Removed missing and duplicate data.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Replacing the Missing Numerical values into “Median” and Categorical into “Unknown”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Standardized formats like currency and data types.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Spelling variations were corrected to avoid duplicate categories.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Capitalization was aligned to improve readability and consistency.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Prepared the cleaned data for analysis or MySQL use.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87A783-2A2A-6478-5F66-017A2B08E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2" y="973737"/>
            <a:ext cx="5810466" cy="3662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31"/>
          <p:cNvGrpSpPr/>
          <p:nvPr/>
        </p:nvGrpSpPr>
        <p:grpSpPr>
          <a:xfrm>
            <a:off x="8107375" y="-29992"/>
            <a:ext cx="4148250" cy="5588488"/>
            <a:chOff x="8107375" y="-12"/>
            <a:chExt cx="4148250" cy="5588488"/>
          </a:xfrm>
        </p:grpSpPr>
        <p:pic>
          <p:nvPicPr>
            <p:cNvPr id="320" name="Google Shape;32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07375" y="1440225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8654238" y="-12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" name="Google Shape;322;p31"/>
          <p:cNvGrpSpPr/>
          <p:nvPr/>
        </p:nvGrpSpPr>
        <p:grpSpPr>
          <a:xfrm>
            <a:off x="-2273550" y="3952738"/>
            <a:ext cx="10986575" cy="4148250"/>
            <a:chOff x="-2273550" y="3952738"/>
            <a:chExt cx="10986575" cy="4148250"/>
          </a:xfrm>
        </p:grpSpPr>
        <p:pic>
          <p:nvPicPr>
            <p:cNvPr id="323" name="Google Shape;323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33650" y="4045075"/>
              <a:ext cx="3579375" cy="357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-2273550" y="3952738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850338" y="423491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" name="Google Shape;326;p31"/>
          <p:cNvGrpSpPr/>
          <p:nvPr/>
        </p:nvGrpSpPr>
        <p:grpSpPr>
          <a:xfrm>
            <a:off x="1473375" y="-3286112"/>
            <a:ext cx="6870175" cy="4148250"/>
            <a:chOff x="1473375" y="-3286112"/>
            <a:chExt cx="6870175" cy="4148250"/>
          </a:xfrm>
        </p:grpSpPr>
        <p:pic>
          <p:nvPicPr>
            <p:cNvPr id="327" name="Google Shape;327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503125" y="-206445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1473375" y="-3286112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" name="Google Shape;330;p31"/>
          <p:cNvGrpSpPr/>
          <p:nvPr/>
        </p:nvGrpSpPr>
        <p:grpSpPr>
          <a:xfrm>
            <a:off x="-1675150" y="-1671825"/>
            <a:ext cx="3549850" cy="6632325"/>
            <a:chOff x="-1675150" y="-1671825"/>
            <a:chExt cx="3549850" cy="6632325"/>
          </a:xfrm>
        </p:grpSpPr>
        <p:pic>
          <p:nvPicPr>
            <p:cNvPr id="331" name="Google Shape;331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400000">
              <a:off x="-1675150" y="-1671825"/>
              <a:ext cx="3549850" cy="354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5400000">
              <a:off x="-1645587" y="20681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747A501-7A82-8F7F-4165-517463E5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395" y="29250"/>
            <a:ext cx="4629300" cy="841800"/>
          </a:xfrm>
        </p:spPr>
        <p:txBody>
          <a:bodyPr/>
          <a:lstStyle/>
          <a:p>
            <a:r>
              <a:rPr lang="en-IN" sz="3200" dirty="0"/>
              <a:t>SQL Query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481D8-B488-EA8C-2E1B-E6EBEA6ACE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861" y="775975"/>
            <a:ext cx="3579377" cy="3999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4324A93-E6EF-3995-1D51-365C8CF23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38" y="908953"/>
            <a:ext cx="407196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 all queries for salary, experience, gender, industry, job title, education &amp; location.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pay gaps, high-earning roles, and compensation trends.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patterns to understand how salary changes across different factors.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results to build pivot charts and dashboards for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>
            <a:spLocks noGrp="1"/>
          </p:cNvSpPr>
          <p:nvPr>
            <p:ph type="title"/>
          </p:nvPr>
        </p:nvSpPr>
        <p:spPr>
          <a:xfrm>
            <a:off x="907377" y="1912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Export Queries to CSV File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0C7AC-012E-9585-04A8-B097DE02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57400"/>
            <a:ext cx="3675088" cy="2280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0DCAA-64BA-F15C-88DD-B32093BA8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088" y="821460"/>
            <a:ext cx="2921292" cy="3901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F3B000-7529-CA94-4C92-56E2029F245F}"/>
              </a:ext>
            </a:extLst>
          </p:cNvPr>
          <p:cNvSpPr txBox="1"/>
          <p:nvPr/>
        </p:nvSpPr>
        <p:spPr>
          <a:xfrm>
            <a:off x="857948" y="1364230"/>
            <a:ext cx="4549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 converted SQL data into a CSV file and used Excel to review and summarize findings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>
            <a:spLocks noGrp="1"/>
          </p:cNvSpPr>
          <p:nvPr>
            <p:ph type="title"/>
          </p:nvPr>
        </p:nvSpPr>
        <p:spPr>
          <a:xfrm>
            <a:off x="720000" y="1411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Pivot Table </a:t>
            </a:r>
            <a:br>
              <a:rPr lang="en" dirty="0"/>
            </a:b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2F01C2-A1A6-5EAC-977A-A0C8A6A37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857705"/>
            <a:ext cx="3017520" cy="32842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3B32ED-9B4A-C85D-327A-B407E748E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79" y="857705"/>
            <a:ext cx="3101341" cy="32842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AB058E-E262-81C9-1727-A9E5760BDD53}"/>
              </a:ext>
            </a:extLst>
          </p:cNvPr>
          <p:cNvSpPr txBox="1"/>
          <p:nvPr/>
        </p:nvSpPr>
        <p:spPr>
          <a:xfrm>
            <a:off x="1485148" y="4285795"/>
            <a:ext cx="6173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 executed the SQL query, exported the results to Excel, and created a pivot table for analysis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57;p33">
            <a:extLst>
              <a:ext uri="{FF2B5EF4-FFF2-40B4-BE49-F238E27FC236}">
                <a16:creationId xmlns:a16="http://schemas.microsoft.com/office/drawing/2014/main" id="{D2D7B408-7DAC-1DAB-988B-01266DDA70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9354" y="0"/>
            <a:ext cx="264529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br>
              <a:rPr lang="en" dirty="0"/>
            </a:br>
            <a:endParaRPr dirty="0"/>
          </a:p>
        </p:txBody>
      </p:sp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256D818C-082F-4DD3-F145-3D02C411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97" y="572700"/>
            <a:ext cx="8177134" cy="4129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57;p33">
            <a:extLst>
              <a:ext uri="{FF2B5EF4-FFF2-40B4-BE49-F238E27FC236}">
                <a16:creationId xmlns:a16="http://schemas.microsoft.com/office/drawing/2014/main" id="{F26AF224-BABD-FF3B-B086-ED70FAD689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Insights</a:t>
            </a:r>
            <a:br>
              <a:rPr lang="en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63E0B-57F1-DB6D-92A0-21641AA707E1}"/>
              </a:ext>
            </a:extLst>
          </p:cNvPr>
          <p:cNvSpPr txBox="1"/>
          <p:nvPr/>
        </p:nvSpPr>
        <p:spPr>
          <a:xfrm>
            <a:off x="1049312" y="1340643"/>
            <a:ext cx="7315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b="1" dirty="0"/>
              <a:t>tech industry pays the highest overall</a:t>
            </a:r>
            <a:r>
              <a:rPr lang="en-US" dirty="0"/>
              <a:t>, contributing the biggest share to total earnings.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survey is </a:t>
            </a:r>
            <a:r>
              <a:rPr lang="en-US" b="1" dirty="0"/>
              <a:t>global and trustworthy</a:t>
            </a:r>
            <a:r>
              <a:rPr lang="en-US" dirty="0"/>
              <a:t>, with responses from 97 countries and 27,000 people.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People with </a:t>
            </a:r>
            <a:r>
              <a:rPr lang="en-US" b="1" dirty="0"/>
              <a:t>PhDs or professional degrees (like MD/JD)</a:t>
            </a:r>
            <a:r>
              <a:rPr lang="en-US" dirty="0"/>
              <a:t> earn the highest salaries, usually over ₹1 lakh.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Experience and leadership roles</a:t>
            </a:r>
            <a:r>
              <a:rPr lang="en-US" dirty="0"/>
              <a:t> make a big difference — the more senior you are, the more you earn.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8B7E90-BBA9-E123-D548-2B47BE1F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390" y="246905"/>
            <a:ext cx="2945220" cy="572700"/>
          </a:xfrm>
        </p:spPr>
        <p:txBody>
          <a:bodyPr/>
          <a:lstStyle/>
          <a:p>
            <a:r>
              <a:rPr lang="en-US" dirty="0"/>
              <a:t> Conclusion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E8F0B-A302-FE72-8751-0604169C972E}"/>
              </a:ext>
            </a:extLst>
          </p:cNvPr>
          <p:cNvSpPr txBox="1"/>
          <p:nvPr/>
        </p:nvSpPr>
        <p:spPr>
          <a:xfrm>
            <a:off x="2079483" y="1259830"/>
            <a:ext cx="609755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The Salary Dataset Analysis provided valuable insights into how </a:t>
            </a:r>
            <a:r>
              <a:rPr lang="en-US" sz="1600" b="1" dirty="0"/>
              <a:t>education level, experience, and industry</a:t>
            </a:r>
            <a:r>
              <a:rPr lang="en-US" sz="1600" dirty="0"/>
              <a:t> significantly influence employee compensation.</a:t>
            </a:r>
          </a:p>
          <a:p>
            <a:br>
              <a:rPr lang="en-US" sz="1600" dirty="0"/>
            </a:br>
            <a:r>
              <a:rPr lang="en-US" sz="1600" dirty="0"/>
              <a:t>Using </a:t>
            </a:r>
            <a:r>
              <a:rPr lang="en-US" sz="1600" b="1" dirty="0"/>
              <a:t>SQL</a:t>
            </a:r>
            <a:r>
              <a:rPr lang="en-US" sz="1600" dirty="0"/>
              <a:t> and </a:t>
            </a:r>
            <a:r>
              <a:rPr lang="en-US" sz="1600" b="1" dirty="0"/>
              <a:t>Excel</a:t>
            </a:r>
            <a:r>
              <a:rPr lang="en-US" sz="1600" dirty="0"/>
              <a:t>, salary patterns were analyzed across </a:t>
            </a:r>
            <a:r>
              <a:rPr lang="en-US" sz="1600" b="1" dirty="0"/>
              <a:t>genders, job titles, and countries</a:t>
            </a:r>
            <a:r>
              <a:rPr lang="en-US" sz="1600" dirty="0"/>
              <a:t>, revealing that higher education and greater experience lead to higher earnings.</a:t>
            </a:r>
          </a:p>
          <a:p>
            <a:br>
              <a:rPr lang="en-US" sz="1600" dirty="0"/>
            </a:br>
            <a:r>
              <a:rPr lang="en-US" sz="1600" dirty="0"/>
              <a:t>The findings highlight the importance of </a:t>
            </a:r>
            <a:r>
              <a:rPr lang="en-US" sz="1600" b="1" dirty="0"/>
              <a:t>data-driven HR decisions</a:t>
            </a:r>
            <a:r>
              <a:rPr lang="en-US" sz="1600" dirty="0"/>
              <a:t> and support the need for </a:t>
            </a:r>
            <a:r>
              <a:rPr lang="en-US" sz="1600" b="1" dirty="0"/>
              <a:t>fair pay structures</a:t>
            </a:r>
            <a:r>
              <a:rPr lang="en-US" sz="1600" dirty="0"/>
              <a:t> and </a:t>
            </a:r>
            <a:r>
              <a:rPr lang="en-US" sz="1600" b="1" dirty="0"/>
              <a:t>skill-based growth opportunities</a:t>
            </a:r>
            <a:r>
              <a:rPr lang="en-US" sz="1600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B8BFA2-5CBE-7AB5-0057-FF51301F9685}"/>
              </a:ext>
            </a:extLst>
          </p:cNvPr>
          <p:cNvSpPr txBox="1">
            <a:spLocks/>
          </p:cNvSpPr>
          <p:nvPr/>
        </p:nvSpPr>
        <p:spPr>
          <a:xfrm>
            <a:off x="3402240" y="1679465"/>
            <a:ext cx="294522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 b="0" i="0" u="none" strike="noStrike" cap="none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r>
              <a:rPr lang="en-US" sz="3600" dirty="0"/>
              <a:t> Thank You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53041173"/>
      </p:ext>
    </p:extLst>
  </p:cSld>
  <p:clrMapOvr>
    <a:masterClrMapping/>
  </p:clrMapOvr>
</p:sld>
</file>

<file path=ppt/theme/theme1.xml><?xml version="1.0" encoding="utf-8"?>
<a:theme xmlns:a="http://schemas.openxmlformats.org/drawingml/2006/main" name="Innovate Business Plan by Slidesgo">
  <a:themeElements>
    <a:clrScheme name="Simple Light">
      <a:dk1>
        <a:srgbClr val="2A2A2A"/>
      </a:dk1>
      <a:lt1>
        <a:srgbClr val="FFFFFF"/>
      </a:lt1>
      <a:dk2>
        <a:srgbClr val="B7B3F0"/>
      </a:dk2>
      <a:lt2>
        <a:srgbClr val="E1BDF7"/>
      </a:lt2>
      <a:accent1>
        <a:srgbClr val="A6CEF2"/>
      </a:accent1>
      <a:accent2>
        <a:srgbClr val="C2C2C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A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450</Words>
  <Application>Microsoft Office PowerPoint</Application>
  <PresentationFormat>On-screen Show (16:9)</PresentationFormat>
  <Paragraphs>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Blinker</vt:lpstr>
      <vt:lpstr>Righteous</vt:lpstr>
      <vt:lpstr>Arial</vt:lpstr>
      <vt:lpstr>Raleway</vt:lpstr>
      <vt:lpstr>Wingdings</vt:lpstr>
      <vt:lpstr>Nunito Light</vt:lpstr>
      <vt:lpstr>Innovate Business Plan by Slidesgo</vt:lpstr>
      <vt:lpstr>Salary Survey Analysis-2021</vt:lpstr>
      <vt:lpstr>Project Objective</vt:lpstr>
      <vt:lpstr>Dataset Overview </vt:lpstr>
      <vt:lpstr>Data Cleaning </vt:lpstr>
      <vt:lpstr>SQL Query</vt:lpstr>
      <vt:lpstr>Export Queries to CSV File</vt:lpstr>
      <vt:lpstr>Pivot Table  </vt:lpstr>
      <vt:lpstr>Dashboard </vt:lpstr>
      <vt:lpstr>Key Insights </vt:lpstr>
      <vt:lpstr>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Arun Aru</dc:creator>
  <cp:lastModifiedBy>Arun aru</cp:lastModifiedBy>
  <cp:revision>5</cp:revision>
  <dcterms:modified xsi:type="dcterms:W3CDTF">2025-12-05T04:57:45Z</dcterms:modified>
</cp:coreProperties>
</file>